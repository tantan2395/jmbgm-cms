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ormorant Garamond Light" charset="1" panose="00000400000000000000"/>
      <p:regular r:id="rId28"/>
    </p:embeddedFont>
    <p:embeddedFont>
      <p:font typeface="Open Sauce" charset="1" panose="00000500000000000000"/>
      <p:regular r:id="rId29"/>
    </p:embeddedFont>
    <p:embeddedFont>
      <p:font typeface="Cormorant Garamond Bold Italics" charset="1" panose="00000800000000000000"/>
      <p:regular r:id="rId30"/>
    </p:embeddedFont>
    <p:embeddedFont>
      <p:font typeface="Cormorant Garamond Bold" charset="1" panose="00000800000000000000"/>
      <p:regular r:id="rId31"/>
    </p:embeddedFont>
    <p:embeddedFont>
      <p:font typeface="Open Sauce Bold" charset="1" panose="00000800000000000000"/>
      <p:regular r:id="rId32"/>
    </p:embeddedFont>
    <p:embeddedFont>
      <p:font typeface="Cormorant Garamond Italics" charset="1" panose="0000050000000000000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https://www.biblegateway.com/passage/?search=Luke%2015%3A11-16&amp;version=ESV#fen-ESV-25595a" TargetMode="External" Type="http://schemas.openxmlformats.org/officeDocument/2006/relationships/hyperlink"/></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164721" y="2385099"/>
            <a:ext cx="15334848" cy="3506468"/>
          </a:xfrm>
          <a:prstGeom prst="rect">
            <a:avLst/>
          </a:prstGeom>
        </p:spPr>
        <p:txBody>
          <a:bodyPr anchor="t" rtlCol="false" tIns="0" lIns="0" bIns="0" rIns="0">
            <a:spAutoFit/>
          </a:bodyPr>
          <a:lstStyle/>
          <a:p>
            <a:pPr algn="ctr">
              <a:lnSpc>
                <a:spcPts val="14063"/>
              </a:lnSpc>
            </a:pPr>
            <a:r>
              <a:rPr lang="en-US" sz="10045">
                <a:solidFill>
                  <a:srgbClr val="FFFFFF"/>
                </a:solidFill>
                <a:latin typeface="Cormorant Garamond Light"/>
                <a:ea typeface="Cormorant Garamond Light"/>
                <a:cs typeface="Cormorant Garamond Light"/>
                <a:sym typeface="Cormorant Garamond Light"/>
              </a:rPr>
              <a:t>THE FATHER AND HIS TWO LOST SONS</a:t>
            </a:r>
          </a:p>
        </p:txBody>
      </p:sp>
      <p:grpSp>
        <p:nvGrpSpPr>
          <p:cNvPr name="Group 4" id="4"/>
          <p:cNvGrpSpPr/>
          <p:nvPr/>
        </p:nvGrpSpPr>
        <p:grpSpPr>
          <a:xfrm rot="0">
            <a:off x="6305630" y="6342971"/>
            <a:ext cx="5053031" cy="902807"/>
            <a:chOff x="0" y="0"/>
            <a:chExt cx="1330839" cy="237776"/>
          </a:xfrm>
        </p:grpSpPr>
        <p:sp>
          <p:nvSpPr>
            <p:cNvPr name="Freeform 5" id="5"/>
            <p:cNvSpPr/>
            <p:nvPr/>
          </p:nvSpPr>
          <p:spPr>
            <a:xfrm flipH="false" flipV="false" rot="0">
              <a:off x="0" y="0"/>
              <a:ext cx="1330839" cy="237776"/>
            </a:xfrm>
            <a:custGeom>
              <a:avLst/>
              <a:gdLst/>
              <a:ahLst/>
              <a:cxnLst/>
              <a:rect r="r" b="b" t="t" l="l"/>
              <a:pathLst>
                <a:path h="237776" w="1330839">
                  <a:moveTo>
                    <a:pt x="0" y="0"/>
                  </a:moveTo>
                  <a:lnTo>
                    <a:pt x="1330839" y="0"/>
                  </a:lnTo>
                  <a:lnTo>
                    <a:pt x="1330839" y="237776"/>
                  </a:lnTo>
                  <a:lnTo>
                    <a:pt x="0" y="237776"/>
                  </a:lnTo>
                  <a:close/>
                </a:path>
              </a:pathLst>
            </a:custGeom>
            <a:ln w="38100" cap="sq">
              <a:gradFill>
                <a:gsLst>
                  <a:gs pos="0">
                    <a:srgbClr val="FFFFFF">
                      <a:alpha val="0"/>
                    </a:srgbClr>
                  </a:gs>
                  <a:gs pos="50000">
                    <a:srgbClr val="C9DE8D">
                      <a:alpha val="100000"/>
                    </a:srgbClr>
                  </a:gs>
                  <a:gs pos="100000">
                    <a:srgbClr val="FFFFFF">
                      <a:alpha val="0"/>
                    </a:srgbClr>
                  </a:gs>
                </a:gsLst>
                <a:lin ang="0"/>
              </a:gradFill>
              <a:prstDash val="solid"/>
              <a:miter/>
            </a:ln>
          </p:spPr>
        </p:sp>
        <p:sp>
          <p:nvSpPr>
            <p:cNvPr name="TextBox 6" id="6"/>
            <p:cNvSpPr txBox="true"/>
            <p:nvPr/>
          </p:nvSpPr>
          <p:spPr>
            <a:xfrm>
              <a:off x="0" y="-47625"/>
              <a:ext cx="1330839" cy="285401"/>
            </a:xfrm>
            <a:prstGeom prst="rect">
              <a:avLst/>
            </a:prstGeom>
          </p:spPr>
          <p:txBody>
            <a:bodyPr anchor="ctr" rtlCol="false" tIns="50800" lIns="50800" bIns="50800" rIns="50800"/>
            <a:lstStyle/>
            <a:p>
              <a:pPr algn="ctr">
                <a:lnSpc>
                  <a:spcPts val="3359"/>
                </a:lnSpc>
              </a:pPr>
            </a:p>
          </p:txBody>
        </p:sp>
      </p:grpSp>
      <p:sp>
        <p:nvSpPr>
          <p:cNvPr name="TextBox 7" id="7"/>
          <p:cNvSpPr txBox="true"/>
          <p:nvPr/>
        </p:nvSpPr>
        <p:spPr>
          <a:xfrm rot="0">
            <a:off x="1233413" y="7927706"/>
            <a:ext cx="16025887" cy="913536"/>
          </a:xfrm>
          <a:prstGeom prst="rect">
            <a:avLst/>
          </a:prstGeom>
        </p:spPr>
        <p:txBody>
          <a:bodyPr anchor="t" rtlCol="false" tIns="0" lIns="0" bIns="0" rIns="0">
            <a:spAutoFit/>
          </a:bodyPr>
          <a:lstStyle/>
          <a:p>
            <a:pPr algn="ctr">
              <a:lnSpc>
                <a:spcPts val="3722"/>
              </a:lnSpc>
              <a:spcBef>
                <a:spcPct val="0"/>
              </a:spcBef>
            </a:pPr>
            <a:r>
              <a:rPr lang="en-US" sz="2659" spc="106">
                <a:solidFill>
                  <a:srgbClr val="FFFFFF"/>
                </a:solidFill>
                <a:latin typeface="Open Sauce"/>
                <a:ea typeface="Open Sauce"/>
                <a:cs typeface="Open Sauce"/>
                <a:sym typeface="Open Sauce"/>
              </a:rPr>
              <a:t>“We can be lost through rebellion </a:t>
            </a:r>
            <a:r>
              <a:rPr lang="en-US" sz="2659" spc="106">
                <a:solidFill>
                  <a:srgbClr val="FFFFFF"/>
                </a:solidFill>
                <a:latin typeface="Open Sauce"/>
                <a:ea typeface="Open Sauce"/>
                <a:cs typeface="Open Sauce"/>
                <a:sym typeface="Open Sauce"/>
              </a:rPr>
              <a:t>or religion, but the Gospel reveals a Father who pursues the lost and restores them by grace.”</a:t>
            </a:r>
          </a:p>
        </p:txBody>
      </p:sp>
      <p:sp>
        <p:nvSpPr>
          <p:cNvPr name="TextBox 8" id="8"/>
          <p:cNvSpPr txBox="true"/>
          <p:nvPr/>
        </p:nvSpPr>
        <p:spPr>
          <a:xfrm rot="0">
            <a:off x="6637775" y="6299384"/>
            <a:ext cx="4720886" cy="894730"/>
          </a:xfrm>
          <a:prstGeom prst="rect">
            <a:avLst/>
          </a:prstGeom>
        </p:spPr>
        <p:txBody>
          <a:bodyPr anchor="t" rtlCol="false" tIns="0" lIns="0" bIns="0" rIns="0">
            <a:spAutoFit/>
          </a:bodyPr>
          <a:lstStyle/>
          <a:p>
            <a:pPr algn="ctr">
              <a:lnSpc>
                <a:spcPts val="7451"/>
              </a:lnSpc>
            </a:pPr>
            <a:r>
              <a:rPr lang="en-US" b="true" sz="5322" i="true" spc="106">
                <a:solidFill>
                  <a:srgbClr val="E99F10"/>
                </a:solidFill>
                <a:latin typeface="Cormorant Garamond Bold Italics"/>
                <a:ea typeface="Cormorant Garamond Bold Italics"/>
                <a:cs typeface="Cormorant Garamond Bold Italics"/>
                <a:sym typeface="Cormorant Garamond Bold Italics"/>
              </a:rPr>
              <a:t>Luke 15:11–32</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4762084" y="1642364"/>
            <a:ext cx="8086960" cy="769223"/>
          </a:xfrm>
          <a:prstGeom prst="rect">
            <a:avLst/>
          </a:prstGeom>
        </p:spPr>
        <p:txBody>
          <a:bodyPr anchor="t" rtlCol="false" tIns="0" lIns="0" bIns="0" rIns="0">
            <a:spAutoFit/>
          </a:bodyPr>
          <a:lstStyle/>
          <a:p>
            <a:pPr algn="ctr">
              <a:lnSpc>
                <a:spcPts val="6392"/>
              </a:lnSpc>
            </a:pPr>
            <a:r>
              <a:rPr lang="en-US" b="true" sz="4566">
                <a:solidFill>
                  <a:srgbClr val="FFFFFF"/>
                </a:solidFill>
                <a:latin typeface="Cormorant Garamond Bold"/>
                <a:ea typeface="Cormorant Garamond Bold"/>
                <a:cs typeface="Cormorant Garamond Bold"/>
                <a:sym typeface="Cormorant Garamond Bold"/>
              </a:rPr>
              <a:t>SCRIPTURE FOUNDATION</a:t>
            </a:r>
          </a:p>
        </p:txBody>
      </p:sp>
      <p:sp>
        <p:nvSpPr>
          <p:cNvPr name="TextBox 4" id="4"/>
          <p:cNvSpPr txBox="true"/>
          <p:nvPr/>
        </p:nvSpPr>
        <p:spPr>
          <a:xfrm rot="0">
            <a:off x="807043" y="3304037"/>
            <a:ext cx="16673914" cy="2951258"/>
          </a:xfrm>
          <a:prstGeom prst="rect">
            <a:avLst/>
          </a:prstGeom>
        </p:spPr>
        <p:txBody>
          <a:bodyPr anchor="t" rtlCol="false" tIns="0" lIns="0" bIns="0" rIns="0">
            <a:spAutoFit/>
          </a:bodyPr>
          <a:lstStyle/>
          <a:p>
            <a:pPr algn="ctr">
              <a:lnSpc>
                <a:spcPts val="5857"/>
              </a:lnSpc>
              <a:spcBef>
                <a:spcPct val="0"/>
              </a:spcBef>
            </a:pPr>
            <a:r>
              <a:rPr lang="en-US" b="true" sz="4183" spc="167">
                <a:solidFill>
                  <a:srgbClr val="E99F10"/>
                </a:solidFill>
                <a:latin typeface="Open Sauce Bold"/>
                <a:ea typeface="Open Sauce Bold"/>
                <a:cs typeface="Open Sauce Bold"/>
                <a:sym typeface="Open Sauce Bold"/>
              </a:rPr>
              <a:t>Luke 15:1-2 </a:t>
            </a:r>
            <a:r>
              <a:rPr lang="en-US" b="true" sz="4183" spc="167">
                <a:solidFill>
                  <a:srgbClr val="FFFFFF"/>
                </a:solidFill>
                <a:latin typeface="Open Sauce Bold"/>
                <a:ea typeface="Open Sauce Bold"/>
                <a:cs typeface="Open Sauce Bold"/>
                <a:sym typeface="Open Sauce Bold"/>
              </a:rPr>
              <a:t>– "Now the tax collectors and sinne</a:t>
            </a:r>
            <a:r>
              <a:rPr lang="en-US" b="true" sz="4183" spc="167">
                <a:solidFill>
                  <a:srgbClr val="FFFFFF"/>
                </a:solidFill>
                <a:latin typeface="Open Sauce Bold"/>
                <a:ea typeface="Open Sauce Bold"/>
                <a:cs typeface="Open Sauce Bold"/>
                <a:sym typeface="Open Sauce Bold"/>
              </a:rPr>
              <a:t>rs were all drawing near to hear him. And the Pharisees and the scribes grumbled, saying, 'This man receives sinners and eats with them.'"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514578" y="914400"/>
            <a:ext cx="15258845" cy="1005135"/>
          </a:xfrm>
          <a:prstGeom prst="rect">
            <a:avLst/>
          </a:prstGeom>
        </p:spPr>
        <p:txBody>
          <a:bodyPr anchor="t" rtlCol="false" tIns="0" lIns="0" bIns="0" rIns="0">
            <a:spAutoFit/>
          </a:bodyPr>
          <a:lstStyle/>
          <a:p>
            <a:pPr algn="ctr">
              <a:lnSpc>
                <a:spcPts val="8210"/>
              </a:lnSpc>
            </a:pPr>
            <a:r>
              <a:rPr lang="en-US" b="true" sz="5864">
                <a:solidFill>
                  <a:srgbClr val="E99F10"/>
                </a:solidFill>
                <a:latin typeface="Cormorant Garamond Bold"/>
                <a:ea typeface="Cormorant Garamond Bold"/>
                <a:cs typeface="Cormorant Garamond Bold"/>
                <a:sym typeface="Cormorant Garamond Bold"/>
              </a:rPr>
              <a:t>I. THE YOUNGER SON: LOST IN REBELLION</a:t>
            </a:r>
          </a:p>
        </p:txBody>
      </p:sp>
      <p:sp>
        <p:nvSpPr>
          <p:cNvPr name="TextBox 4" id="4"/>
          <p:cNvSpPr txBox="true"/>
          <p:nvPr/>
        </p:nvSpPr>
        <p:spPr>
          <a:xfrm rot="0">
            <a:off x="1314874" y="2260617"/>
            <a:ext cx="15458549" cy="6997683"/>
          </a:xfrm>
          <a:prstGeom prst="rect">
            <a:avLst/>
          </a:prstGeom>
        </p:spPr>
        <p:txBody>
          <a:bodyPr anchor="t" rtlCol="false" tIns="0" lIns="0" bIns="0" rIns="0">
            <a:spAutoFit/>
          </a:bodyPr>
          <a:lstStyle/>
          <a:p>
            <a:pPr algn="just">
              <a:lnSpc>
                <a:spcPts val="4795"/>
              </a:lnSpc>
              <a:spcBef>
                <a:spcPct val="0"/>
              </a:spcBef>
            </a:pPr>
            <a:r>
              <a:rPr lang="en-US" b="true" sz="3425" spc="137">
                <a:solidFill>
                  <a:srgbClr val="E99F10"/>
                </a:solidFill>
                <a:latin typeface="Open Sauce Bold"/>
                <a:ea typeface="Open Sauce Bold"/>
                <a:cs typeface="Open Sauce Bold"/>
                <a:sym typeface="Open Sauce Bold"/>
              </a:rPr>
              <a:t>Luke 15:11-16 – </a:t>
            </a:r>
            <a:r>
              <a:rPr lang="en-US" b="true" sz="3425" spc="137">
                <a:solidFill>
                  <a:srgbClr val="FFFFFF"/>
                </a:solidFill>
                <a:latin typeface="Open Sauce Bold"/>
                <a:ea typeface="Open Sauce Bold"/>
                <a:cs typeface="Open Sauce Bold"/>
                <a:sym typeface="Open Sauce Bold"/>
              </a:rPr>
              <a:t>11 </a:t>
            </a:r>
            <a:r>
              <a:rPr lang="en-US" b="true" sz="3425" spc="137">
                <a:solidFill>
                  <a:srgbClr val="FFFFFF"/>
                </a:solidFill>
                <a:latin typeface="Open Sauce Bold"/>
                <a:ea typeface="Open Sauce Bold"/>
                <a:cs typeface="Open Sauce Bold"/>
                <a:sym typeface="Open Sauce Bold"/>
              </a:rPr>
              <a:t>And he said, “There was a man who had two sons. </a:t>
            </a:r>
            <a:r>
              <a:rPr lang="en-US" b="true" sz="3425" spc="137">
                <a:solidFill>
                  <a:srgbClr val="FFFFFF"/>
                </a:solidFill>
                <a:latin typeface="Open Sauce Bold"/>
                <a:ea typeface="Open Sauce Bold"/>
                <a:cs typeface="Open Sauce Bold"/>
                <a:sym typeface="Open Sauce Bold"/>
              </a:rPr>
              <a:t>12 </a:t>
            </a:r>
            <a:r>
              <a:rPr lang="en-US" b="true" sz="3425" spc="137">
                <a:solidFill>
                  <a:srgbClr val="FFFFFF"/>
                </a:solidFill>
                <a:latin typeface="Open Sauce Bold"/>
                <a:ea typeface="Open Sauce Bold"/>
                <a:cs typeface="Open Sauce Bold"/>
                <a:sym typeface="Open Sauce Bold"/>
              </a:rPr>
              <a:t>And the younger of them said to his father, ‘Father, give me the share of property that is coming to me.’ And he divided his property between them. </a:t>
            </a:r>
            <a:r>
              <a:rPr lang="en-US" b="true" sz="3425" spc="137">
                <a:solidFill>
                  <a:srgbClr val="FFFFFF"/>
                </a:solidFill>
                <a:latin typeface="Open Sauce Bold"/>
                <a:ea typeface="Open Sauce Bold"/>
                <a:cs typeface="Open Sauce Bold"/>
                <a:sym typeface="Open Sauce Bold"/>
              </a:rPr>
              <a:t>13 </a:t>
            </a:r>
            <a:r>
              <a:rPr lang="en-US" b="true" sz="3425" spc="137">
                <a:solidFill>
                  <a:srgbClr val="FFFFFF"/>
                </a:solidFill>
                <a:latin typeface="Open Sauce Bold"/>
                <a:ea typeface="Open Sauce Bold"/>
                <a:cs typeface="Open Sauce Bold"/>
                <a:sym typeface="Open Sauce Bold"/>
              </a:rPr>
              <a:t>Not many days later, the younge</a:t>
            </a:r>
            <a:r>
              <a:rPr lang="en-US" b="true" sz="3425" spc="137">
                <a:solidFill>
                  <a:srgbClr val="FFFFFF"/>
                </a:solidFill>
                <a:latin typeface="Open Sauce Bold"/>
                <a:ea typeface="Open Sauce Bold"/>
                <a:cs typeface="Open Sauce Bold"/>
                <a:sym typeface="Open Sauce Bold"/>
              </a:rPr>
              <a:t>r son gathered all he had and took a journey into a far country, and there he squandered his property in reckless living. </a:t>
            </a:r>
            <a:r>
              <a:rPr lang="en-US" b="true" sz="3425" spc="137">
                <a:solidFill>
                  <a:srgbClr val="FFFFFF"/>
                </a:solidFill>
                <a:latin typeface="Open Sauce Bold"/>
                <a:ea typeface="Open Sauce Bold"/>
                <a:cs typeface="Open Sauce Bold"/>
                <a:sym typeface="Open Sauce Bold"/>
              </a:rPr>
              <a:t>14 </a:t>
            </a:r>
            <a:r>
              <a:rPr lang="en-US" b="true" sz="3425" spc="137">
                <a:solidFill>
                  <a:srgbClr val="FFFFFF"/>
                </a:solidFill>
                <a:latin typeface="Open Sauce Bold"/>
                <a:ea typeface="Open Sauce Bold"/>
                <a:cs typeface="Open Sauce Bold"/>
                <a:sym typeface="Open Sauce Bold"/>
              </a:rPr>
              <a:t>And when he had spent everything, a severe famine arose in that country, and he began to be in need. </a:t>
            </a:r>
            <a:r>
              <a:rPr lang="en-US" b="true" sz="3425" spc="137">
                <a:solidFill>
                  <a:srgbClr val="FFFFFF"/>
                </a:solidFill>
                <a:latin typeface="Open Sauce Bold"/>
                <a:ea typeface="Open Sauce Bold"/>
                <a:cs typeface="Open Sauce Bold"/>
                <a:sym typeface="Open Sauce Bold"/>
              </a:rPr>
              <a:t>15 </a:t>
            </a:r>
            <a:r>
              <a:rPr lang="en-US" b="true" sz="3425" spc="137">
                <a:solidFill>
                  <a:srgbClr val="FFFFFF"/>
                </a:solidFill>
                <a:latin typeface="Open Sauce Bold"/>
                <a:ea typeface="Open Sauce Bold"/>
                <a:cs typeface="Open Sauce Bold"/>
                <a:sym typeface="Open Sauce Bold"/>
              </a:rPr>
              <a:t>So he went and hired himself out to</a:t>
            </a:r>
            <a:r>
              <a:rPr lang="en-US" b="true" sz="3425" spc="137">
                <a:solidFill>
                  <a:srgbClr val="FFFFFF"/>
                </a:solidFill>
                <a:latin typeface="Open Sauce Bold"/>
                <a:ea typeface="Open Sauce Bold"/>
                <a:cs typeface="Open Sauce Bold"/>
                <a:sym typeface="Open Sauce Bold"/>
              </a:rPr>
              <a:t>[</a:t>
            </a:r>
            <a:r>
              <a:rPr lang="en-US" b="true" sz="3425" spc="137" u="sng">
                <a:solidFill>
                  <a:srgbClr val="FFFFFF"/>
                </a:solidFill>
                <a:latin typeface="Open Sauce Bold"/>
                <a:ea typeface="Open Sauce Bold"/>
                <a:cs typeface="Open Sauce Bold"/>
                <a:sym typeface="Open Sauce Bold"/>
                <a:hlinkClick r:id="rId3" tooltip="https://www.biblegateway.com/passage/?search=Luke%2015%3A11-16&amp;version=ESV#fen-ESV-25595a"/>
              </a:rPr>
              <a:t>a</a:t>
            </a:r>
            <a:r>
              <a:rPr lang="en-US" b="true" sz="3425" spc="137">
                <a:solidFill>
                  <a:srgbClr val="FFFFFF"/>
                </a:solidFill>
                <a:latin typeface="Open Sauce Bold"/>
                <a:ea typeface="Open Sauce Bold"/>
                <a:cs typeface="Open Sauce Bold"/>
                <a:sym typeface="Open Sauce Bold"/>
              </a:rPr>
              <a:t>]</a:t>
            </a:r>
            <a:r>
              <a:rPr lang="en-US" b="true" sz="3425" spc="137">
                <a:solidFill>
                  <a:srgbClr val="FFFFFF"/>
                </a:solidFill>
                <a:latin typeface="Open Sauce Bold"/>
                <a:ea typeface="Open Sauce Bold"/>
                <a:cs typeface="Open Sauce Bold"/>
                <a:sym typeface="Open Sauce Bold"/>
              </a:rPr>
              <a:t> one of the citizens of that country, who sent him into his fields to feed pigs. </a:t>
            </a:r>
            <a:r>
              <a:rPr lang="en-US" b="true" sz="3425" spc="137">
                <a:solidFill>
                  <a:srgbClr val="FFFFFF"/>
                </a:solidFill>
                <a:latin typeface="Open Sauce Bold"/>
                <a:ea typeface="Open Sauce Bold"/>
                <a:cs typeface="Open Sauce Bold"/>
                <a:sym typeface="Open Sauce Bold"/>
              </a:rPr>
              <a:t>16 </a:t>
            </a:r>
            <a:r>
              <a:rPr lang="en-US" b="true" sz="3425" spc="137">
                <a:solidFill>
                  <a:srgbClr val="FFFFFF"/>
                </a:solidFill>
                <a:latin typeface="Open Sauce Bold"/>
                <a:ea typeface="Open Sauce Bold"/>
                <a:cs typeface="Open Sauce Bold"/>
                <a:sym typeface="Open Sauce Bold"/>
              </a:rPr>
              <a:t>And he was longing to be fed with the pods that the pigs ate, and no one gave him anything.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14285" y="942975"/>
            <a:ext cx="15867001" cy="1524455"/>
          </a:xfrm>
          <a:prstGeom prst="rect">
            <a:avLst/>
          </a:prstGeom>
        </p:spPr>
        <p:txBody>
          <a:bodyPr anchor="t" rtlCol="false" tIns="0" lIns="0" bIns="0" rIns="0">
            <a:spAutoFit/>
          </a:bodyPr>
          <a:lstStyle/>
          <a:p>
            <a:pPr algn="ctr">
              <a:lnSpc>
                <a:spcPts val="6162"/>
              </a:lnSpc>
            </a:pPr>
            <a:r>
              <a:rPr lang="en-US" b="true" sz="4401">
                <a:solidFill>
                  <a:srgbClr val="FFBD3F"/>
                </a:solidFill>
                <a:latin typeface="Cormorant Garamond Bold"/>
                <a:ea typeface="Cormorant Garamond Bold"/>
                <a:cs typeface="Cormorant Garamond Bold"/>
                <a:sym typeface="Cormorant Garamond Bold"/>
              </a:rPr>
              <a:t>A.  HE WANTED THE FATHER'S BLESSINGS WITHOUT THE FATHER</a:t>
            </a:r>
          </a:p>
        </p:txBody>
      </p:sp>
      <p:sp>
        <p:nvSpPr>
          <p:cNvPr name="TextBox 4" id="4"/>
          <p:cNvSpPr txBox="true"/>
          <p:nvPr/>
        </p:nvSpPr>
        <p:spPr>
          <a:xfrm rot="0">
            <a:off x="2056267" y="3152466"/>
            <a:ext cx="14429777" cy="4161824"/>
          </a:xfrm>
          <a:prstGeom prst="rect">
            <a:avLst/>
          </a:prstGeom>
        </p:spPr>
        <p:txBody>
          <a:bodyPr anchor="t" rtlCol="false" tIns="0" lIns="0" bIns="0" rIns="0">
            <a:spAutoFit/>
          </a:bodyPr>
          <a:lstStyle/>
          <a:p>
            <a:pPr algn="just">
              <a:lnSpc>
                <a:spcPts val="8350"/>
              </a:lnSpc>
              <a:spcBef>
                <a:spcPct val="0"/>
              </a:spcBef>
            </a:pPr>
            <a:r>
              <a:rPr lang="en-US" b="true" sz="5964" spc="238">
                <a:solidFill>
                  <a:srgbClr val="E99F10"/>
                </a:solidFill>
                <a:latin typeface="Open Sauce Bold"/>
                <a:ea typeface="Open Sauce Bold"/>
                <a:cs typeface="Open Sauce Bold"/>
                <a:sym typeface="Open Sauce Bold"/>
              </a:rPr>
              <a:t>Luke 15:12 – </a:t>
            </a:r>
            <a:r>
              <a:rPr lang="en-US" b="true" sz="5964" spc="238">
                <a:solidFill>
                  <a:srgbClr val="FFFFFF"/>
                </a:solidFill>
                <a:latin typeface="Open Sauce Bold"/>
                <a:ea typeface="Open Sauce Bold"/>
                <a:cs typeface="Open Sauce Bold"/>
                <a:sym typeface="Open Sauce Bold"/>
              </a:rPr>
              <a:t>"Father, give me</a:t>
            </a:r>
            <a:r>
              <a:rPr lang="en-US" b="true" sz="5964" spc="238">
                <a:solidFill>
                  <a:srgbClr val="FFFFFF"/>
                </a:solidFill>
                <a:latin typeface="Open Sauce Bold"/>
                <a:ea typeface="Open Sauce Bold"/>
                <a:cs typeface="Open Sauce Bold"/>
                <a:sym typeface="Open Sauce Bold"/>
              </a:rPr>
              <a:t> the share of property that is coming to me." And he divided his property between them.”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14285" y="933450"/>
            <a:ext cx="16752522" cy="842354"/>
          </a:xfrm>
          <a:prstGeom prst="rect">
            <a:avLst/>
          </a:prstGeom>
        </p:spPr>
        <p:txBody>
          <a:bodyPr anchor="t" rtlCol="false" tIns="0" lIns="0" bIns="0" rIns="0">
            <a:spAutoFit/>
          </a:bodyPr>
          <a:lstStyle/>
          <a:p>
            <a:pPr algn="ctr">
              <a:lnSpc>
                <a:spcPts val="6939"/>
              </a:lnSpc>
            </a:pPr>
            <a:r>
              <a:rPr lang="en-US" b="true" sz="4956">
                <a:solidFill>
                  <a:srgbClr val="FFBD3F"/>
                </a:solidFill>
                <a:latin typeface="Cormorant Garamond Bold"/>
                <a:ea typeface="Cormorant Garamond Bold"/>
                <a:cs typeface="Cormorant Garamond Bold"/>
                <a:sym typeface="Cormorant Garamond Bold"/>
              </a:rPr>
              <a:t>B. SIN PROMISES FREEDOM BUT PRODUCES SLAVERY</a:t>
            </a:r>
          </a:p>
        </p:txBody>
      </p:sp>
      <p:sp>
        <p:nvSpPr>
          <p:cNvPr name="TextBox 4" id="4"/>
          <p:cNvSpPr txBox="true"/>
          <p:nvPr/>
        </p:nvSpPr>
        <p:spPr>
          <a:xfrm rot="0">
            <a:off x="2056267" y="3161991"/>
            <a:ext cx="14334681" cy="4853625"/>
          </a:xfrm>
          <a:prstGeom prst="rect">
            <a:avLst/>
          </a:prstGeom>
        </p:spPr>
        <p:txBody>
          <a:bodyPr anchor="t" rtlCol="false" tIns="0" lIns="0" bIns="0" rIns="0">
            <a:spAutoFit/>
          </a:bodyPr>
          <a:lstStyle/>
          <a:p>
            <a:pPr algn="just">
              <a:lnSpc>
                <a:spcPts val="7610"/>
              </a:lnSpc>
              <a:spcBef>
                <a:spcPct val="0"/>
              </a:spcBef>
            </a:pPr>
            <a:r>
              <a:rPr lang="en-US" b="true" sz="5435" spc="217">
                <a:solidFill>
                  <a:srgbClr val="E99F10"/>
                </a:solidFill>
                <a:latin typeface="Open Sauce Bold"/>
                <a:ea typeface="Open Sauce Bold"/>
                <a:cs typeface="Open Sauce Bold"/>
                <a:sym typeface="Open Sauce Bold"/>
              </a:rPr>
              <a:t>Luke 15:13 – </a:t>
            </a:r>
            <a:r>
              <a:rPr lang="en-US" b="true" sz="5435" spc="217">
                <a:solidFill>
                  <a:srgbClr val="FFFFFF"/>
                </a:solidFill>
                <a:latin typeface="Open Sauce Bold"/>
                <a:ea typeface="Open Sauce Bold"/>
                <a:cs typeface="Open Sauce Bold"/>
                <a:sym typeface="Open Sauce Bold"/>
              </a:rPr>
              <a:t>13 </a:t>
            </a:r>
            <a:r>
              <a:rPr lang="en-US" b="true" sz="5435" spc="217">
                <a:solidFill>
                  <a:srgbClr val="FFFFFF"/>
                </a:solidFill>
                <a:latin typeface="Open Sauce Bold"/>
                <a:ea typeface="Open Sauce Bold"/>
                <a:cs typeface="Open Sauce Bold"/>
                <a:sym typeface="Open Sauce Bold"/>
              </a:rPr>
              <a:t>Not many days later, the younger son gathered</a:t>
            </a:r>
            <a:r>
              <a:rPr lang="en-US" b="true" sz="5435" spc="217">
                <a:solidFill>
                  <a:srgbClr val="FFFFFF"/>
                </a:solidFill>
                <a:latin typeface="Open Sauce Bold"/>
                <a:ea typeface="Open Sauce Bold"/>
                <a:cs typeface="Open Sauce Bold"/>
                <a:sym typeface="Open Sauce Bold"/>
              </a:rPr>
              <a:t> all he had and took a journey into a far country, and there he squandered his property in reckless living.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2056267" y="3142941"/>
            <a:ext cx="13859918" cy="3232019"/>
          </a:xfrm>
          <a:prstGeom prst="rect">
            <a:avLst/>
          </a:prstGeom>
        </p:spPr>
        <p:txBody>
          <a:bodyPr anchor="t" rtlCol="false" tIns="0" lIns="0" bIns="0" rIns="0">
            <a:spAutoFit/>
          </a:bodyPr>
          <a:lstStyle/>
          <a:p>
            <a:pPr algn="just">
              <a:lnSpc>
                <a:spcPts val="8607"/>
              </a:lnSpc>
              <a:spcBef>
                <a:spcPct val="0"/>
              </a:spcBef>
            </a:pPr>
            <a:r>
              <a:rPr lang="en-US" b="true" sz="6148" spc="245">
                <a:solidFill>
                  <a:srgbClr val="E99F10"/>
                </a:solidFill>
                <a:latin typeface="Open Sauce Bold"/>
                <a:ea typeface="Open Sauce Bold"/>
                <a:cs typeface="Open Sauce Bold"/>
                <a:sym typeface="Open Sauce Bold"/>
              </a:rPr>
              <a:t>·Proverbs 14:12 – </a:t>
            </a:r>
            <a:r>
              <a:rPr lang="en-US" b="true" sz="6148" spc="245">
                <a:solidFill>
                  <a:srgbClr val="FFFFFF"/>
                </a:solidFill>
                <a:latin typeface="Open Sauce Bold"/>
                <a:ea typeface="Open Sauce Bold"/>
                <a:cs typeface="Open Sauce Bold"/>
                <a:sym typeface="Open Sauce Bold"/>
              </a:rPr>
              <a:t>"There is a way that seems righ</a:t>
            </a:r>
            <a:r>
              <a:rPr lang="en-US" b="true" sz="6148" spc="245">
                <a:solidFill>
                  <a:srgbClr val="FFFFFF"/>
                </a:solidFill>
                <a:latin typeface="Open Sauce Bold"/>
                <a:ea typeface="Open Sauce Bold"/>
                <a:cs typeface="Open Sauce Bold"/>
                <a:sym typeface="Open Sauce Bold"/>
              </a:rPr>
              <a:t>t to a man, but its end is the way to death."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14285" y="933450"/>
            <a:ext cx="16310499" cy="822641"/>
          </a:xfrm>
          <a:prstGeom prst="rect">
            <a:avLst/>
          </a:prstGeom>
        </p:spPr>
        <p:txBody>
          <a:bodyPr anchor="t" rtlCol="false" tIns="0" lIns="0" bIns="0" rIns="0">
            <a:spAutoFit/>
          </a:bodyPr>
          <a:lstStyle/>
          <a:p>
            <a:pPr algn="ctr">
              <a:lnSpc>
                <a:spcPts val="6756"/>
              </a:lnSpc>
            </a:pPr>
            <a:r>
              <a:rPr lang="en-US" b="true" sz="4825">
                <a:solidFill>
                  <a:srgbClr val="FFBD3F"/>
                </a:solidFill>
                <a:latin typeface="Cormorant Garamond Bold"/>
                <a:ea typeface="Cormorant Garamond Bold"/>
                <a:cs typeface="Cormorant Garamond Bold"/>
                <a:sym typeface="Cormorant Garamond Bold"/>
              </a:rPr>
              <a:t>C. HIS BROKENNESS EXPOSED HIS NEED FOR A SAVIOR</a:t>
            </a:r>
          </a:p>
        </p:txBody>
      </p:sp>
      <p:sp>
        <p:nvSpPr>
          <p:cNvPr name="TextBox 4" id="4"/>
          <p:cNvSpPr txBox="true"/>
          <p:nvPr/>
        </p:nvSpPr>
        <p:spPr>
          <a:xfrm rot="0">
            <a:off x="1978908" y="2654104"/>
            <a:ext cx="14330183" cy="5684288"/>
          </a:xfrm>
          <a:prstGeom prst="rect">
            <a:avLst/>
          </a:prstGeom>
        </p:spPr>
        <p:txBody>
          <a:bodyPr anchor="t" rtlCol="false" tIns="0" lIns="0" bIns="0" rIns="0">
            <a:spAutoFit/>
          </a:bodyPr>
          <a:lstStyle/>
          <a:p>
            <a:pPr algn="just">
              <a:lnSpc>
                <a:spcPts val="5367"/>
              </a:lnSpc>
              <a:spcBef>
                <a:spcPct val="0"/>
              </a:spcBef>
            </a:pPr>
            <a:r>
              <a:rPr lang="en-US" b="true" sz="3834" spc="153">
                <a:solidFill>
                  <a:srgbClr val="E99F10"/>
                </a:solidFill>
                <a:latin typeface="Open Sauce Bold"/>
                <a:ea typeface="Open Sauce Bold"/>
                <a:cs typeface="Open Sauce Bold"/>
                <a:sym typeface="Open Sauce Bold"/>
              </a:rPr>
              <a:t>Luke 15:17-20 – </a:t>
            </a:r>
            <a:r>
              <a:rPr lang="en-US" b="true" sz="3834" spc="153">
                <a:solidFill>
                  <a:srgbClr val="FFFFFF"/>
                </a:solidFill>
                <a:latin typeface="Open Sauce Bold"/>
                <a:ea typeface="Open Sauce Bold"/>
                <a:cs typeface="Open Sauce Bold"/>
                <a:sym typeface="Open Sauce Bold"/>
              </a:rPr>
              <a:t>17 </a:t>
            </a:r>
            <a:r>
              <a:rPr lang="en-US" b="true" sz="3834" spc="153">
                <a:solidFill>
                  <a:srgbClr val="FFFFFF"/>
                </a:solidFill>
                <a:latin typeface="Open Sauce Bold"/>
                <a:ea typeface="Open Sauce Bold"/>
                <a:cs typeface="Open Sauce Bold"/>
                <a:sym typeface="Open Sauce Bold"/>
              </a:rPr>
              <a:t>“But when he came to himself, he said, ‘How many of my father's hired servants have more than enough bread, but I perish here with hunger! </a:t>
            </a:r>
            <a:r>
              <a:rPr lang="en-US" b="true" sz="3834" spc="153">
                <a:solidFill>
                  <a:srgbClr val="FFFFFF"/>
                </a:solidFill>
                <a:latin typeface="Open Sauce Bold"/>
                <a:ea typeface="Open Sauce Bold"/>
                <a:cs typeface="Open Sauce Bold"/>
                <a:sym typeface="Open Sauce Bold"/>
              </a:rPr>
              <a:t>18 </a:t>
            </a:r>
            <a:r>
              <a:rPr lang="en-US" b="true" sz="3834" spc="153">
                <a:solidFill>
                  <a:srgbClr val="FFFFFF"/>
                </a:solidFill>
                <a:latin typeface="Open Sauce Bold"/>
                <a:ea typeface="Open Sauce Bold"/>
                <a:cs typeface="Open Sauce Bold"/>
                <a:sym typeface="Open Sauce Bold"/>
              </a:rPr>
              <a:t>I will arise and go to my father, and</a:t>
            </a:r>
            <a:r>
              <a:rPr lang="en-US" b="true" sz="3834" spc="153">
                <a:solidFill>
                  <a:srgbClr val="FFFFFF"/>
                </a:solidFill>
                <a:latin typeface="Open Sauce Bold"/>
                <a:ea typeface="Open Sauce Bold"/>
                <a:cs typeface="Open Sauce Bold"/>
                <a:sym typeface="Open Sauce Bold"/>
              </a:rPr>
              <a:t> I will say to him, “Father, I have sinned against heaven and before you. </a:t>
            </a:r>
            <a:r>
              <a:rPr lang="en-US" b="true" sz="3834" spc="153">
                <a:solidFill>
                  <a:srgbClr val="FFFFFF"/>
                </a:solidFill>
                <a:latin typeface="Open Sauce Bold"/>
                <a:ea typeface="Open Sauce Bold"/>
                <a:cs typeface="Open Sauce Bold"/>
                <a:sym typeface="Open Sauce Bold"/>
              </a:rPr>
              <a:t>19 </a:t>
            </a:r>
            <a:r>
              <a:rPr lang="en-US" b="true" sz="3834" spc="153">
                <a:solidFill>
                  <a:srgbClr val="FFFFFF"/>
                </a:solidFill>
                <a:latin typeface="Open Sauce Bold"/>
                <a:ea typeface="Open Sauce Bold"/>
                <a:cs typeface="Open Sauce Bold"/>
                <a:sym typeface="Open Sauce Bold"/>
              </a:rPr>
              <a:t>I am no longer worthy to be called your son. Treat me as one of your hired servants.”’ </a:t>
            </a:r>
            <a:r>
              <a:rPr lang="en-US" b="true" sz="3834" spc="153">
                <a:solidFill>
                  <a:srgbClr val="FFFFFF"/>
                </a:solidFill>
                <a:latin typeface="Open Sauce Bold"/>
                <a:ea typeface="Open Sauce Bold"/>
                <a:cs typeface="Open Sauce Bold"/>
                <a:sym typeface="Open Sauce Bold"/>
              </a:rPr>
              <a:t>20 </a:t>
            </a:r>
            <a:r>
              <a:rPr lang="en-US" b="true" sz="3834" spc="153">
                <a:solidFill>
                  <a:srgbClr val="FFFFFF"/>
                </a:solidFill>
                <a:latin typeface="Open Sauce Bold"/>
                <a:ea typeface="Open Sauce Bold"/>
                <a:cs typeface="Open Sauce Bold"/>
                <a:sym typeface="Open Sauce Bold"/>
              </a:rPr>
              <a:t>And he arose and came to his father.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301271" y="2782649"/>
            <a:ext cx="15958029" cy="3734966"/>
          </a:xfrm>
          <a:prstGeom prst="rect">
            <a:avLst/>
          </a:prstGeom>
        </p:spPr>
        <p:txBody>
          <a:bodyPr anchor="t" rtlCol="false" tIns="0" lIns="0" bIns="0" rIns="0">
            <a:spAutoFit/>
          </a:bodyPr>
          <a:lstStyle/>
          <a:p>
            <a:pPr algn="just">
              <a:lnSpc>
                <a:spcPts val="9910"/>
              </a:lnSpc>
              <a:spcBef>
                <a:spcPct val="0"/>
              </a:spcBef>
            </a:pPr>
            <a:r>
              <a:rPr lang="en-US" b="true" sz="7079" spc="283">
                <a:solidFill>
                  <a:srgbClr val="FFFFFF"/>
                </a:solidFill>
                <a:latin typeface="Open Sauce Bold"/>
                <a:ea typeface="Open Sauce Bold"/>
                <a:cs typeface="Open Sauce Bold"/>
                <a:sym typeface="Open Sauce Bold"/>
              </a:rPr>
              <a:t>The Gospel begins when we recognize tha</a:t>
            </a:r>
            <a:r>
              <a:rPr lang="en-US" b="true" sz="7079" spc="283">
                <a:solidFill>
                  <a:srgbClr val="FFFFFF"/>
                </a:solidFill>
                <a:latin typeface="Open Sauce Bold"/>
                <a:ea typeface="Open Sauce Bold"/>
                <a:cs typeface="Open Sauce Bold"/>
                <a:sym typeface="Open Sauce Bold"/>
              </a:rPr>
              <a:t>t we cannot save ourselves.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28700" y="914400"/>
            <a:ext cx="16045245" cy="993587"/>
          </a:xfrm>
          <a:prstGeom prst="rect">
            <a:avLst/>
          </a:prstGeom>
        </p:spPr>
        <p:txBody>
          <a:bodyPr anchor="t" rtlCol="false" tIns="0" lIns="0" bIns="0" rIns="0">
            <a:spAutoFit/>
          </a:bodyPr>
          <a:lstStyle/>
          <a:p>
            <a:pPr algn="ctr">
              <a:lnSpc>
                <a:spcPts val="8167"/>
              </a:lnSpc>
            </a:pPr>
            <a:r>
              <a:rPr lang="en-US" b="true" sz="5833">
                <a:solidFill>
                  <a:srgbClr val="FFBD3F"/>
                </a:solidFill>
                <a:latin typeface="Cormorant Garamond Bold"/>
                <a:ea typeface="Cormorant Garamond Bold"/>
                <a:cs typeface="Cormorant Garamond Bold"/>
                <a:sym typeface="Cormorant Garamond Bold"/>
              </a:rPr>
              <a:t>II. THE ELDER SON: LOST IN RELIGION</a:t>
            </a:r>
          </a:p>
        </p:txBody>
      </p:sp>
      <p:sp>
        <p:nvSpPr>
          <p:cNvPr name="TextBox 4" id="4"/>
          <p:cNvSpPr txBox="true"/>
          <p:nvPr/>
        </p:nvSpPr>
        <p:spPr>
          <a:xfrm rot="0">
            <a:off x="1864131" y="2749713"/>
            <a:ext cx="14643226" cy="6064715"/>
          </a:xfrm>
          <a:prstGeom prst="rect">
            <a:avLst/>
          </a:prstGeom>
        </p:spPr>
        <p:txBody>
          <a:bodyPr anchor="t" rtlCol="false" tIns="0" lIns="0" bIns="0" rIns="0">
            <a:spAutoFit/>
          </a:bodyPr>
          <a:lstStyle/>
          <a:p>
            <a:pPr algn="just">
              <a:lnSpc>
                <a:spcPts val="4139"/>
              </a:lnSpc>
              <a:spcBef>
                <a:spcPct val="0"/>
              </a:spcBef>
            </a:pPr>
            <a:r>
              <a:rPr lang="en-US" b="true" sz="2956" spc="118">
                <a:solidFill>
                  <a:srgbClr val="E99F10"/>
                </a:solidFill>
                <a:latin typeface="Open Sauce Bold"/>
                <a:ea typeface="Open Sauce Bold"/>
                <a:cs typeface="Open Sauce Bold"/>
                <a:sym typeface="Open Sauce Bold"/>
              </a:rPr>
              <a:t>Luke 15:25-30 – </a:t>
            </a:r>
            <a:r>
              <a:rPr lang="en-US" b="true" sz="2956" spc="118">
                <a:solidFill>
                  <a:srgbClr val="FFFFFF"/>
                </a:solidFill>
                <a:latin typeface="Open Sauce Bold"/>
                <a:ea typeface="Open Sauce Bold"/>
                <a:cs typeface="Open Sauce Bold"/>
                <a:sym typeface="Open Sauce Bold"/>
              </a:rPr>
              <a:t>25 </a:t>
            </a:r>
            <a:r>
              <a:rPr lang="en-US" b="true" sz="2956" spc="118">
                <a:solidFill>
                  <a:srgbClr val="FFFFFF"/>
                </a:solidFill>
                <a:latin typeface="Open Sauce Bold"/>
                <a:ea typeface="Open Sauce Bold"/>
                <a:cs typeface="Open Sauce Bold"/>
                <a:sym typeface="Open Sauce Bold"/>
              </a:rPr>
              <a:t>“Now his older son was in the field, and as he came and drew near to the house, he heard music and dancing. </a:t>
            </a:r>
            <a:r>
              <a:rPr lang="en-US" b="true" sz="2956" spc="118">
                <a:solidFill>
                  <a:srgbClr val="FFFFFF"/>
                </a:solidFill>
                <a:latin typeface="Open Sauce Bold"/>
                <a:ea typeface="Open Sauce Bold"/>
                <a:cs typeface="Open Sauce Bold"/>
                <a:sym typeface="Open Sauce Bold"/>
              </a:rPr>
              <a:t>26 </a:t>
            </a:r>
            <a:r>
              <a:rPr lang="en-US" b="true" sz="2956" spc="118">
                <a:solidFill>
                  <a:srgbClr val="FFFFFF"/>
                </a:solidFill>
                <a:latin typeface="Open Sauce Bold"/>
                <a:ea typeface="Open Sauce Bold"/>
                <a:cs typeface="Open Sauce Bold"/>
                <a:sym typeface="Open Sauce Bold"/>
              </a:rPr>
              <a:t>And he called one of the servants and asked what these things meant. </a:t>
            </a:r>
            <a:r>
              <a:rPr lang="en-US" b="true" sz="2956" spc="118">
                <a:solidFill>
                  <a:srgbClr val="FFFFFF"/>
                </a:solidFill>
                <a:latin typeface="Open Sauce Bold"/>
                <a:ea typeface="Open Sauce Bold"/>
                <a:cs typeface="Open Sauce Bold"/>
                <a:sym typeface="Open Sauce Bold"/>
              </a:rPr>
              <a:t>27 </a:t>
            </a:r>
            <a:r>
              <a:rPr lang="en-US" b="true" sz="2956" spc="118">
                <a:solidFill>
                  <a:srgbClr val="FFFFFF"/>
                </a:solidFill>
                <a:latin typeface="Open Sauce Bold"/>
                <a:ea typeface="Open Sauce Bold"/>
                <a:cs typeface="Open Sauce Bold"/>
                <a:sym typeface="Open Sauce Bold"/>
              </a:rPr>
              <a:t>And he said to him, ‘Your brother has come, and your father has killed the fattened calf, because he has received him back safe and sound.’ </a:t>
            </a:r>
            <a:r>
              <a:rPr lang="en-US" b="true" sz="2956" spc="118">
                <a:solidFill>
                  <a:srgbClr val="FFFFFF"/>
                </a:solidFill>
                <a:latin typeface="Open Sauce Bold"/>
                <a:ea typeface="Open Sauce Bold"/>
                <a:cs typeface="Open Sauce Bold"/>
                <a:sym typeface="Open Sauce Bold"/>
              </a:rPr>
              <a:t>28 </a:t>
            </a:r>
            <a:r>
              <a:rPr lang="en-US" b="true" sz="2956" spc="118">
                <a:solidFill>
                  <a:srgbClr val="FFFFFF"/>
                </a:solidFill>
                <a:latin typeface="Open Sauce Bold"/>
                <a:ea typeface="Open Sauce Bold"/>
                <a:cs typeface="Open Sauce Bold"/>
                <a:sym typeface="Open Sauce Bold"/>
              </a:rPr>
              <a:t>But he was angry and refused to go in. His father came out and</a:t>
            </a:r>
            <a:r>
              <a:rPr lang="en-US" b="true" sz="2956" spc="118">
                <a:solidFill>
                  <a:srgbClr val="FFFFFF"/>
                </a:solidFill>
                <a:latin typeface="Open Sauce Bold"/>
                <a:ea typeface="Open Sauce Bold"/>
                <a:cs typeface="Open Sauce Bold"/>
                <a:sym typeface="Open Sauce Bold"/>
              </a:rPr>
              <a:t> entreated him, </a:t>
            </a:r>
            <a:r>
              <a:rPr lang="en-US" b="true" sz="2956" spc="118">
                <a:solidFill>
                  <a:srgbClr val="FFFFFF"/>
                </a:solidFill>
                <a:latin typeface="Open Sauce Bold"/>
                <a:ea typeface="Open Sauce Bold"/>
                <a:cs typeface="Open Sauce Bold"/>
                <a:sym typeface="Open Sauce Bold"/>
              </a:rPr>
              <a:t>29 </a:t>
            </a:r>
            <a:r>
              <a:rPr lang="en-US" b="true" sz="2956" spc="118">
                <a:solidFill>
                  <a:srgbClr val="FFFFFF"/>
                </a:solidFill>
                <a:latin typeface="Open Sauce Bold"/>
                <a:ea typeface="Open Sauce Bold"/>
                <a:cs typeface="Open Sauce Bold"/>
                <a:sym typeface="Open Sauce Bold"/>
              </a:rPr>
              <a:t>but he answered his father, ‘Look, these many years I have served you, and I never disobeyed your command, yet you never gave me a young goat, that I might celebrate with my friends. </a:t>
            </a:r>
            <a:r>
              <a:rPr lang="en-US" b="true" sz="2956" spc="118">
                <a:solidFill>
                  <a:srgbClr val="FFFFFF"/>
                </a:solidFill>
                <a:latin typeface="Open Sauce Bold"/>
                <a:ea typeface="Open Sauce Bold"/>
                <a:cs typeface="Open Sauce Bold"/>
                <a:sym typeface="Open Sauce Bold"/>
              </a:rPr>
              <a:t>30 </a:t>
            </a:r>
            <a:r>
              <a:rPr lang="en-US" b="true" sz="2956" spc="118">
                <a:solidFill>
                  <a:srgbClr val="FFFFFF"/>
                </a:solidFill>
                <a:latin typeface="Open Sauce Bold"/>
                <a:ea typeface="Open Sauce Bold"/>
                <a:cs typeface="Open Sauce Bold"/>
                <a:sym typeface="Open Sauce Bold"/>
              </a:rPr>
              <a:t>But when this son of yours came, who has devoured your property with prostitutes, you killed the fattened calf for him!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28700" y="771129"/>
            <a:ext cx="14857704" cy="1841167"/>
          </a:xfrm>
          <a:prstGeom prst="rect">
            <a:avLst/>
          </a:prstGeom>
        </p:spPr>
        <p:txBody>
          <a:bodyPr anchor="t" rtlCol="false" tIns="0" lIns="0" bIns="0" rIns="0">
            <a:spAutoFit/>
          </a:bodyPr>
          <a:lstStyle/>
          <a:p>
            <a:pPr algn="ctr">
              <a:lnSpc>
                <a:spcPts val="7478"/>
              </a:lnSpc>
            </a:pPr>
            <a:r>
              <a:rPr lang="en-US" b="true" sz="5341">
                <a:solidFill>
                  <a:srgbClr val="FFBD3F"/>
                </a:solidFill>
                <a:latin typeface="Cormorant Garamond Bold"/>
                <a:ea typeface="Cormorant Garamond Bold"/>
                <a:cs typeface="Cormorant Garamond Bold"/>
                <a:sym typeface="Cormorant Garamond Bold"/>
              </a:rPr>
              <a:t>A. HE WAS PHYSICALLY NEAR BUT SPIRITUALLY FAR</a:t>
            </a:r>
          </a:p>
        </p:txBody>
      </p:sp>
      <p:sp>
        <p:nvSpPr>
          <p:cNvPr name="TextBox 4" id="4"/>
          <p:cNvSpPr txBox="true"/>
          <p:nvPr/>
        </p:nvSpPr>
        <p:spPr>
          <a:xfrm rot="0">
            <a:off x="2113644" y="3386423"/>
            <a:ext cx="14060713" cy="2472383"/>
          </a:xfrm>
          <a:prstGeom prst="rect">
            <a:avLst/>
          </a:prstGeom>
        </p:spPr>
        <p:txBody>
          <a:bodyPr anchor="t" rtlCol="false" tIns="0" lIns="0" bIns="0" rIns="0">
            <a:spAutoFit/>
          </a:bodyPr>
          <a:lstStyle/>
          <a:p>
            <a:pPr algn="just">
              <a:lnSpc>
                <a:spcPts val="9475"/>
              </a:lnSpc>
              <a:spcBef>
                <a:spcPct val="0"/>
              </a:spcBef>
            </a:pPr>
            <a:r>
              <a:rPr lang="en-US" b="true" sz="6768" spc="270">
                <a:solidFill>
                  <a:srgbClr val="E99F10"/>
                </a:solidFill>
                <a:latin typeface="Open Sauce Bold"/>
                <a:ea typeface="Open Sauce Bold"/>
                <a:cs typeface="Open Sauce Bold"/>
                <a:sym typeface="Open Sauce Bold"/>
              </a:rPr>
              <a:t>Luke 15:28 – </a:t>
            </a:r>
            <a:r>
              <a:rPr lang="en-US" b="true" sz="6768" spc="270">
                <a:solidFill>
                  <a:srgbClr val="FFFFFF"/>
                </a:solidFill>
                <a:latin typeface="Open Sauce Bold"/>
                <a:ea typeface="Open Sauce Bold"/>
                <a:cs typeface="Open Sauce Bold"/>
                <a:sym typeface="Open Sauce Bold"/>
              </a:rPr>
              <a:t>28 </a:t>
            </a:r>
            <a:r>
              <a:rPr lang="en-US" b="true" sz="6768" spc="270">
                <a:solidFill>
                  <a:srgbClr val="FFFFFF"/>
                </a:solidFill>
                <a:latin typeface="Open Sauce Bold"/>
                <a:ea typeface="Open Sauce Bold"/>
                <a:cs typeface="Open Sauce Bold"/>
                <a:sym typeface="Open Sauce Bold"/>
              </a:rPr>
              <a:t>Bu</a:t>
            </a:r>
            <a:r>
              <a:rPr lang="en-US" b="true" sz="6768" spc="270">
                <a:solidFill>
                  <a:srgbClr val="FFFFFF"/>
                </a:solidFill>
                <a:latin typeface="Open Sauce Bold"/>
                <a:ea typeface="Open Sauce Bold"/>
                <a:cs typeface="Open Sauce Bold"/>
                <a:sym typeface="Open Sauce Bold"/>
              </a:rPr>
              <a:t>t he was angry and refused to go in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705722" y="3087001"/>
            <a:ext cx="14876556" cy="26184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Do not let your Obedience turned out in bitterness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765020" y="914400"/>
            <a:ext cx="14273208" cy="1046358"/>
          </a:xfrm>
          <a:prstGeom prst="rect">
            <a:avLst/>
          </a:prstGeom>
        </p:spPr>
        <p:txBody>
          <a:bodyPr anchor="t" rtlCol="false" tIns="0" lIns="0" bIns="0" rIns="0">
            <a:spAutoFit/>
          </a:bodyPr>
          <a:lstStyle/>
          <a:p>
            <a:pPr algn="ctr">
              <a:lnSpc>
                <a:spcPts val="8657"/>
              </a:lnSpc>
            </a:pPr>
            <a:r>
              <a:rPr lang="en-US" b="true" sz="6183">
                <a:solidFill>
                  <a:srgbClr val="FFBD3F"/>
                </a:solidFill>
                <a:latin typeface="Cormorant Garamond Bold"/>
                <a:ea typeface="Cormorant Garamond Bold"/>
                <a:cs typeface="Cormorant Garamond Bold"/>
                <a:sym typeface="Cormorant Garamond Bold"/>
              </a:rPr>
              <a:t>B. HE OBEYED WITHOUT LOVING</a:t>
            </a:r>
          </a:p>
        </p:txBody>
      </p:sp>
      <p:sp>
        <p:nvSpPr>
          <p:cNvPr name="TextBox 4" id="4"/>
          <p:cNvSpPr txBox="true"/>
          <p:nvPr/>
        </p:nvSpPr>
        <p:spPr>
          <a:xfrm rot="0">
            <a:off x="1241276" y="2610934"/>
            <a:ext cx="15805448" cy="5911358"/>
          </a:xfrm>
          <a:prstGeom prst="rect">
            <a:avLst/>
          </a:prstGeom>
        </p:spPr>
        <p:txBody>
          <a:bodyPr anchor="t" rtlCol="false" tIns="0" lIns="0" bIns="0" rIns="0">
            <a:spAutoFit/>
          </a:bodyPr>
          <a:lstStyle/>
          <a:p>
            <a:pPr algn="just">
              <a:lnSpc>
                <a:spcPts val="7657"/>
              </a:lnSpc>
              <a:spcBef>
                <a:spcPct val="0"/>
              </a:spcBef>
            </a:pPr>
            <a:r>
              <a:rPr lang="en-US" b="true" sz="5469" spc="218">
                <a:solidFill>
                  <a:srgbClr val="E99F10"/>
                </a:solidFill>
                <a:latin typeface="Open Sauce Bold"/>
                <a:ea typeface="Open Sauce Bold"/>
                <a:cs typeface="Open Sauce Bold"/>
                <a:sym typeface="Open Sauce Bold"/>
              </a:rPr>
              <a:t>Luke 15:29 – </a:t>
            </a:r>
            <a:r>
              <a:rPr lang="en-US" b="true" sz="5469" spc="218">
                <a:solidFill>
                  <a:srgbClr val="FFFFFF"/>
                </a:solidFill>
                <a:latin typeface="Open Sauce Bold"/>
                <a:ea typeface="Open Sauce Bold"/>
                <a:cs typeface="Open Sauce Bold"/>
                <a:sym typeface="Open Sauce Bold"/>
              </a:rPr>
              <a:t>29 </a:t>
            </a:r>
            <a:r>
              <a:rPr lang="en-US" b="true" sz="5469" spc="218">
                <a:solidFill>
                  <a:srgbClr val="FFFFFF"/>
                </a:solidFill>
                <a:latin typeface="Open Sauce Bold"/>
                <a:ea typeface="Open Sauce Bold"/>
                <a:cs typeface="Open Sauce Bold"/>
                <a:sym typeface="Open Sauce Bold"/>
              </a:rPr>
              <a:t>bu</a:t>
            </a:r>
            <a:r>
              <a:rPr lang="en-US" b="true" sz="5469" spc="218">
                <a:solidFill>
                  <a:srgbClr val="FFFFFF"/>
                </a:solidFill>
                <a:latin typeface="Open Sauce Bold"/>
                <a:ea typeface="Open Sauce Bold"/>
                <a:cs typeface="Open Sauce Bold"/>
                <a:sym typeface="Open Sauce Bold"/>
              </a:rPr>
              <a:t>t he answered his father, ‘Look, these many years I have served you, and I never disobeyed your command, yet you never gave me a young goat, that I might celebrate with my friends.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28700" y="914400"/>
            <a:ext cx="16038450" cy="2135483"/>
          </a:xfrm>
          <a:prstGeom prst="rect">
            <a:avLst/>
          </a:prstGeom>
        </p:spPr>
        <p:txBody>
          <a:bodyPr anchor="t" rtlCol="false" tIns="0" lIns="0" bIns="0" rIns="0">
            <a:spAutoFit/>
          </a:bodyPr>
          <a:lstStyle/>
          <a:p>
            <a:pPr algn="ctr">
              <a:lnSpc>
                <a:spcPts val="8657"/>
              </a:lnSpc>
            </a:pPr>
            <a:r>
              <a:rPr lang="en-US" b="true" sz="6183">
                <a:solidFill>
                  <a:srgbClr val="FFBD3F"/>
                </a:solidFill>
                <a:latin typeface="Cormorant Garamond Bold"/>
                <a:ea typeface="Cormorant Garamond Bold"/>
                <a:cs typeface="Cormorant Garamond Bold"/>
                <a:sym typeface="Cormorant Garamond Bold"/>
              </a:rPr>
              <a:t>C. HE TRUSTED HIS RIGHTEOUSNESS INSTEAD OF GRACE</a:t>
            </a:r>
          </a:p>
        </p:txBody>
      </p:sp>
      <p:sp>
        <p:nvSpPr>
          <p:cNvPr name="TextBox 4" id="4"/>
          <p:cNvSpPr txBox="true"/>
          <p:nvPr/>
        </p:nvSpPr>
        <p:spPr>
          <a:xfrm rot="0">
            <a:off x="1261701" y="3929793"/>
            <a:ext cx="15805448" cy="3968258"/>
          </a:xfrm>
          <a:prstGeom prst="rect">
            <a:avLst/>
          </a:prstGeom>
        </p:spPr>
        <p:txBody>
          <a:bodyPr anchor="t" rtlCol="false" tIns="0" lIns="0" bIns="0" rIns="0">
            <a:spAutoFit/>
          </a:bodyPr>
          <a:lstStyle/>
          <a:p>
            <a:pPr algn="just">
              <a:lnSpc>
                <a:spcPts val="7657"/>
              </a:lnSpc>
              <a:spcBef>
                <a:spcPct val="0"/>
              </a:spcBef>
            </a:pPr>
            <a:r>
              <a:rPr lang="en-US" b="true" sz="5469" spc="218">
                <a:solidFill>
                  <a:srgbClr val="E99F10"/>
                </a:solidFill>
                <a:latin typeface="Open Sauce Bold"/>
                <a:ea typeface="Open Sauce Bold"/>
                <a:cs typeface="Open Sauce Bold"/>
                <a:sym typeface="Open Sauce Bold"/>
              </a:rPr>
              <a:t>Luke 15:30 – </a:t>
            </a:r>
            <a:r>
              <a:rPr lang="en-US" b="true" sz="5469" spc="218">
                <a:solidFill>
                  <a:srgbClr val="FFFFFF"/>
                </a:solidFill>
                <a:latin typeface="Open Sauce Bold"/>
                <a:ea typeface="Open Sauce Bold"/>
                <a:cs typeface="Open Sauce Bold"/>
                <a:sym typeface="Open Sauce Bold"/>
              </a:rPr>
              <a:t>30 </a:t>
            </a:r>
            <a:r>
              <a:rPr lang="en-US" b="true" sz="5469" spc="218">
                <a:solidFill>
                  <a:srgbClr val="FFFFFF"/>
                </a:solidFill>
                <a:latin typeface="Open Sauce Bold"/>
                <a:ea typeface="Open Sauce Bold"/>
                <a:cs typeface="Open Sauce Bold"/>
                <a:sym typeface="Open Sauce Bold"/>
              </a:rPr>
              <a:t>Bu</a:t>
            </a:r>
            <a:r>
              <a:rPr lang="en-US" b="true" sz="5469" spc="218">
                <a:solidFill>
                  <a:srgbClr val="FFFFFF"/>
                </a:solidFill>
                <a:latin typeface="Open Sauce Bold"/>
                <a:ea typeface="Open Sauce Bold"/>
                <a:cs typeface="Open Sauce Bold"/>
                <a:sym typeface="Open Sauce Bold"/>
              </a:rPr>
              <a:t>t when this son of yours came, who has devoured your property with prostitutes, you killed the fattened calf for him!</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99245" y="1576138"/>
            <a:ext cx="15805448" cy="5804678"/>
          </a:xfrm>
          <a:prstGeom prst="rect">
            <a:avLst/>
          </a:prstGeom>
        </p:spPr>
        <p:txBody>
          <a:bodyPr anchor="t" rtlCol="false" tIns="0" lIns="0" bIns="0" rIns="0">
            <a:spAutoFit/>
          </a:bodyPr>
          <a:lstStyle/>
          <a:p>
            <a:pPr algn="just" marL="1180838" indent="-590419" lvl="1">
              <a:lnSpc>
                <a:spcPts val="7657"/>
              </a:lnSpc>
              <a:spcBef>
                <a:spcPct val="0"/>
              </a:spcBef>
              <a:buFont typeface="Arial"/>
              <a:buChar char="•"/>
            </a:pPr>
            <a:r>
              <a:rPr lang="en-US" b="true" sz="5469" spc="218">
                <a:solidFill>
                  <a:srgbClr val="E99F10"/>
                </a:solidFill>
                <a:latin typeface="Open Sauce Bold"/>
                <a:ea typeface="Open Sauce Bold"/>
                <a:cs typeface="Open Sauce Bold"/>
                <a:sym typeface="Open Sauce Bold"/>
              </a:rPr>
              <a:t>1 John 2:9-11 – </a:t>
            </a:r>
            <a:r>
              <a:rPr lang="en-US" b="true" sz="5469" spc="218">
                <a:solidFill>
                  <a:srgbClr val="FFFFFF"/>
                </a:solidFill>
                <a:latin typeface="Open Sauce Bold"/>
                <a:ea typeface="Open Sauce Bold"/>
                <a:cs typeface="Open Sauce Bold"/>
                <a:sym typeface="Open Sauce Bold"/>
              </a:rPr>
              <a:t>"Whoever says</a:t>
            </a:r>
            <a:r>
              <a:rPr lang="en-US" b="true" sz="5469" spc="218">
                <a:solidFill>
                  <a:srgbClr val="FFFFFF"/>
                </a:solidFill>
                <a:latin typeface="Open Sauce Bold"/>
                <a:ea typeface="Open Sauce Bold"/>
                <a:cs typeface="Open Sauce Bold"/>
                <a:sym typeface="Open Sauce Bold"/>
              </a:rPr>
              <a:t> he is in the light and hates his brother is still in darkness. Whoever loves his brother abides in the light... But whoever hates his brother is in the darkness and walks in the darkness."</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28700" y="630338"/>
            <a:ext cx="16045245" cy="993587"/>
          </a:xfrm>
          <a:prstGeom prst="rect">
            <a:avLst/>
          </a:prstGeom>
        </p:spPr>
        <p:txBody>
          <a:bodyPr anchor="t" rtlCol="false" tIns="0" lIns="0" bIns="0" rIns="0">
            <a:spAutoFit/>
          </a:bodyPr>
          <a:lstStyle/>
          <a:p>
            <a:pPr algn="ctr">
              <a:lnSpc>
                <a:spcPts val="8167"/>
              </a:lnSpc>
            </a:pPr>
            <a:r>
              <a:rPr lang="en-US" b="true" sz="5833">
                <a:solidFill>
                  <a:srgbClr val="FFBD3F"/>
                </a:solidFill>
                <a:latin typeface="Cormorant Garamond Bold"/>
                <a:ea typeface="Cormorant Garamond Bold"/>
                <a:cs typeface="Cormorant Garamond Bold"/>
                <a:sym typeface="Cormorant Garamond Bold"/>
              </a:rPr>
              <a:t>III. JESUS REVEALS THE FATHER'S GRACE</a:t>
            </a:r>
          </a:p>
        </p:txBody>
      </p:sp>
      <p:sp>
        <p:nvSpPr>
          <p:cNvPr name="TextBox 4" id="4"/>
          <p:cNvSpPr txBox="true"/>
          <p:nvPr/>
        </p:nvSpPr>
        <p:spPr>
          <a:xfrm rot="0">
            <a:off x="1725796" y="2679317"/>
            <a:ext cx="15348148" cy="5981425"/>
          </a:xfrm>
          <a:prstGeom prst="rect">
            <a:avLst/>
          </a:prstGeom>
        </p:spPr>
        <p:txBody>
          <a:bodyPr anchor="t" rtlCol="false" tIns="0" lIns="0" bIns="0" rIns="0">
            <a:spAutoFit/>
          </a:bodyPr>
          <a:lstStyle/>
          <a:p>
            <a:pPr algn="just">
              <a:lnSpc>
                <a:spcPts val="4740"/>
              </a:lnSpc>
              <a:spcBef>
                <a:spcPct val="0"/>
              </a:spcBef>
            </a:pPr>
            <a:r>
              <a:rPr lang="en-US" b="true" sz="3385" spc="135">
                <a:solidFill>
                  <a:srgbClr val="E99F10"/>
                </a:solidFill>
                <a:latin typeface="Open Sauce Bold"/>
                <a:ea typeface="Open Sauce Bold"/>
                <a:cs typeface="Open Sauce Bold"/>
                <a:sym typeface="Open Sauce Bold"/>
              </a:rPr>
              <a:t>Luke 15:20-24 – </a:t>
            </a:r>
            <a:r>
              <a:rPr lang="en-US" b="true" sz="3385" spc="135">
                <a:solidFill>
                  <a:srgbClr val="FFFFFF"/>
                </a:solidFill>
                <a:latin typeface="Open Sauce Bold"/>
                <a:ea typeface="Open Sauce Bold"/>
                <a:cs typeface="Open Sauce Bold"/>
                <a:sym typeface="Open Sauce Bold"/>
              </a:rPr>
              <a:t>"And he arose and came to his father. But while he was still a long way off, his father saw him and felt compassion, and ran and</a:t>
            </a:r>
            <a:r>
              <a:rPr lang="en-US" b="true" sz="3385" spc="135">
                <a:solidFill>
                  <a:srgbClr val="FFFFFF"/>
                </a:solidFill>
                <a:latin typeface="Open Sauce Bold"/>
                <a:ea typeface="Open Sauce Bold"/>
                <a:cs typeface="Open Sauce Bold"/>
                <a:sym typeface="Open Sauce Bold"/>
              </a:rPr>
              <a:t> embraced him and kissed him. And the son said to him, 'Father, I have sinned against heaven and before you. I am no longer worthy to be called your son.' </a:t>
            </a:r>
            <a:r>
              <a:rPr lang="en-US" b="true" sz="3385" spc="135">
                <a:solidFill>
                  <a:srgbClr val="FFBD3F"/>
                </a:solidFill>
                <a:latin typeface="Open Sauce Bold"/>
                <a:ea typeface="Open Sauce Bold"/>
                <a:cs typeface="Open Sauce Bold"/>
                <a:sym typeface="Open Sauce Bold"/>
              </a:rPr>
              <a:t>But the father said to his servants, 'Bring quickly the best robe, and put it on him, and put a ring on his hand, and shoes on his feet. And bring the fattened calf and kill it, and let us eat and celebrate. For this my son was dead, and is alive again; he was lost, and is found.' And they began to celebrate."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028700" y="914400"/>
            <a:ext cx="16045245" cy="993587"/>
          </a:xfrm>
          <a:prstGeom prst="rect">
            <a:avLst/>
          </a:prstGeom>
        </p:spPr>
        <p:txBody>
          <a:bodyPr anchor="t" rtlCol="false" tIns="0" lIns="0" bIns="0" rIns="0">
            <a:spAutoFit/>
          </a:bodyPr>
          <a:lstStyle/>
          <a:p>
            <a:pPr algn="ctr">
              <a:lnSpc>
                <a:spcPts val="8167"/>
              </a:lnSpc>
            </a:pPr>
            <a:r>
              <a:rPr lang="en-US" b="true" sz="5833">
                <a:solidFill>
                  <a:srgbClr val="FFBD3F"/>
                </a:solidFill>
                <a:latin typeface="Cormorant Garamond Bold"/>
                <a:ea typeface="Cormorant Garamond Bold"/>
                <a:cs typeface="Cormorant Garamond Bold"/>
                <a:sym typeface="Cormorant Garamond Bold"/>
              </a:rPr>
              <a:t>III. JESUS REVEALS THE FATHER'S GRACE</a:t>
            </a:r>
          </a:p>
        </p:txBody>
      </p:sp>
      <p:sp>
        <p:nvSpPr>
          <p:cNvPr name="TextBox 4" id="4"/>
          <p:cNvSpPr txBox="true"/>
          <p:nvPr/>
        </p:nvSpPr>
        <p:spPr>
          <a:xfrm rot="0">
            <a:off x="1725796" y="2679317"/>
            <a:ext cx="15348148" cy="6286225"/>
          </a:xfrm>
          <a:prstGeom prst="rect">
            <a:avLst/>
          </a:prstGeom>
        </p:spPr>
        <p:txBody>
          <a:bodyPr anchor="t" rtlCol="false" tIns="0" lIns="0" bIns="0" rIns="0">
            <a:spAutoFit/>
          </a:bodyPr>
          <a:lstStyle/>
          <a:p>
            <a:pPr algn="just">
              <a:lnSpc>
                <a:spcPts val="4740"/>
              </a:lnSpc>
              <a:spcBef>
                <a:spcPct val="0"/>
              </a:spcBef>
            </a:pPr>
            <a:r>
              <a:rPr lang="en-US" b="true" sz="3385" spc="135">
                <a:solidFill>
                  <a:srgbClr val="E99F10"/>
                </a:solidFill>
                <a:latin typeface="Open Sauce Bold"/>
                <a:ea typeface="Open Sauce Bold"/>
                <a:cs typeface="Open Sauce Bold"/>
                <a:sym typeface="Open Sauce Bold"/>
              </a:rPr>
              <a:t>Luke 15:28-32 – </a:t>
            </a:r>
            <a:r>
              <a:rPr lang="en-US" b="true" sz="3385" spc="135">
                <a:solidFill>
                  <a:srgbClr val="FFFFFF"/>
                </a:solidFill>
                <a:latin typeface="Open Sauce Bold"/>
                <a:ea typeface="Open Sauce Bold"/>
                <a:cs typeface="Open Sauce Bold"/>
                <a:sym typeface="Open Sauce Bold"/>
              </a:rPr>
              <a:t>28 </a:t>
            </a:r>
            <a:r>
              <a:rPr lang="en-US" b="true" sz="3385" spc="135">
                <a:solidFill>
                  <a:srgbClr val="FFFFFF"/>
                </a:solidFill>
                <a:latin typeface="Open Sauce Bold"/>
                <a:ea typeface="Open Sauce Bold"/>
                <a:cs typeface="Open Sauce Bold"/>
                <a:sym typeface="Open Sauce Bold"/>
              </a:rPr>
              <a:t>But he was angry and refused to go in. His father came out and</a:t>
            </a:r>
            <a:r>
              <a:rPr lang="en-US" b="true" sz="3385" spc="135">
                <a:solidFill>
                  <a:srgbClr val="FFFFFF"/>
                </a:solidFill>
                <a:latin typeface="Open Sauce Bold"/>
                <a:ea typeface="Open Sauce Bold"/>
                <a:cs typeface="Open Sauce Bold"/>
                <a:sym typeface="Open Sauce Bold"/>
              </a:rPr>
              <a:t> entreated him, </a:t>
            </a:r>
            <a:r>
              <a:rPr lang="en-US" b="true" sz="3385" spc="135">
                <a:solidFill>
                  <a:srgbClr val="FFFFFF"/>
                </a:solidFill>
                <a:latin typeface="Open Sauce Bold"/>
                <a:ea typeface="Open Sauce Bold"/>
                <a:cs typeface="Open Sauce Bold"/>
                <a:sym typeface="Open Sauce Bold"/>
              </a:rPr>
              <a:t>29 </a:t>
            </a:r>
            <a:r>
              <a:rPr lang="en-US" b="true" sz="3385" spc="135">
                <a:solidFill>
                  <a:srgbClr val="FFFFFF"/>
                </a:solidFill>
                <a:latin typeface="Open Sauce Bold"/>
                <a:ea typeface="Open Sauce Bold"/>
                <a:cs typeface="Open Sauce Bold"/>
                <a:sym typeface="Open Sauce Bold"/>
              </a:rPr>
              <a:t>but he answered his father, ‘Look, these many years I have served you, and I never disobeyed your command, yet you never gave me a young goat, that I might celebrate with my friends. </a:t>
            </a:r>
            <a:r>
              <a:rPr lang="en-US" b="true" sz="3385" spc="135">
                <a:solidFill>
                  <a:srgbClr val="FFFFFF"/>
                </a:solidFill>
                <a:latin typeface="Open Sauce Bold"/>
                <a:ea typeface="Open Sauce Bold"/>
                <a:cs typeface="Open Sauce Bold"/>
                <a:sym typeface="Open Sauce Bold"/>
              </a:rPr>
              <a:t>30 </a:t>
            </a:r>
            <a:r>
              <a:rPr lang="en-US" b="true" sz="3385" spc="135">
                <a:solidFill>
                  <a:srgbClr val="FFFFFF"/>
                </a:solidFill>
                <a:latin typeface="Open Sauce Bold"/>
                <a:ea typeface="Open Sauce Bold"/>
                <a:cs typeface="Open Sauce Bold"/>
                <a:sym typeface="Open Sauce Bold"/>
              </a:rPr>
              <a:t>But when this son of yours came, who has devoured your property with prostitutes, you killed the fattened calf for him!’ </a:t>
            </a:r>
            <a:r>
              <a:rPr lang="en-US" b="true" sz="3385" spc="135">
                <a:solidFill>
                  <a:srgbClr val="FFFFFF"/>
                </a:solidFill>
                <a:latin typeface="Open Sauce Bold"/>
                <a:ea typeface="Open Sauce Bold"/>
                <a:cs typeface="Open Sauce Bold"/>
                <a:sym typeface="Open Sauce Bold"/>
              </a:rPr>
              <a:t>31 </a:t>
            </a:r>
            <a:r>
              <a:rPr lang="en-US" b="true" sz="3385" spc="135">
                <a:solidFill>
                  <a:srgbClr val="FFFFFF"/>
                </a:solidFill>
                <a:latin typeface="Open Sauce Bold"/>
                <a:ea typeface="Open Sauce Bold"/>
                <a:cs typeface="Open Sauce Bold"/>
                <a:sym typeface="Open Sauce Bold"/>
              </a:rPr>
              <a:t>And he said to him, </a:t>
            </a:r>
            <a:r>
              <a:rPr lang="en-US" b="true" sz="3385" spc="135">
                <a:solidFill>
                  <a:srgbClr val="FFBD3F"/>
                </a:solidFill>
                <a:latin typeface="Open Sauce Bold"/>
                <a:ea typeface="Open Sauce Bold"/>
                <a:cs typeface="Open Sauce Bold"/>
                <a:sym typeface="Open Sauce Bold"/>
              </a:rPr>
              <a:t>‘Son, you are always with me, and all that is mine is yours.</a:t>
            </a:r>
            <a:r>
              <a:rPr lang="en-US" b="true" sz="3385" spc="135">
                <a:solidFill>
                  <a:srgbClr val="FFFFFF"/>
                </a:solidFill>
                <a:latin typeface="Open Sauce Bold"/>
                <a:ea typeface="Open Sauce Bold"/>
                <a:cs typeface="Open Sauce Bold"/>
                <a:sym typeface="Open Sauce Bold"/>
              </a:rPr>
              <a:t> </a:t>
            </a:r>
            <a:r>
              <a:rPr lang="en-US" b="true" sz="3385" spc="135">
                <a:solidFill>
                  <a:srgbClr val="FFFFFF"/>
                </a:solidFill>
                <a:latin typeface="Open Sauce Bold"/>
                <a:ea typeface="Open Sauce Bold"/>
                <a:cs typeface="Open Sauce Bold"/>
                <a:sym typeface="Open Sauce Bold"/>
              </a:rPr>
              <a:t>32 </a:t>
            </a:r>
            <a:r>
              <a:rPr lang="en-US" b="true" sz="3385" spc="135">
                <a:solidFill>
                  <a:srgbClr val="FFBD3F"/>
                </a:solidFill>
                <a:latin typeface="Open Sauce Bold"/>
                <a:ea typeface="Open Sauce Bold"/>
                <a:cs typeface="Open Sauce Bold"/>
                <a:sym typeface="Open Sauce Bold"/>
              </a:rPr>
              <a:t>It was fitting to celebrate and be glad, for this your brother was dead, and is alive; he was lost, and is found.’”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705722" y="1762576"/>
            <a:ext cx="14876556" cy="66189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Jesus came not only for people who know they are sinners, but also for people who think they are good enough without Him.</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705722" y="3858526"/>
            <a:ext cx="14876556" cy="12849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Which Son Are You?</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462241" y="1640835"/>
            <a:ext cx="14876556" cy="26184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If you are the younger son, </a:t>
            </a:r>
            <a:r>
              <a:rPr lang="en-US" b="true" sz="7535" spc="301">
                <a:solidFill>
                  <a:srgbClr val="FFBD3F"/>
                </a:solidFill>
                <a:latin typeface="Open Sauce Bold"/>
                <a:ea typeface="Open Sauce Bold"/>
                <a:cs typeface="Open Sauce Bold"/>
                <a:sym typeface="Open Sauce Bold"/>
              </a:rPr>
              <a:t>come home</a:t>
            </a:r>
          </a:p>
        </p:txBody>
      </p:sp>
      <p:sp>
        <p:nvSpPr>
          <p:cNvPr name="TextBox 4" id="4"/>
          <p:cNvSpPr txBox="true"/>
          <p:nvPr/>
        </p:nvSpPr>
        <p:spPr>
          <a:xfrm rot="0">
            <a:off x="1462241" y="4735303"/>
            <a:ext cx="14876556" cy="2618474"/>
          </a:xfrm>
          <a:prstGeom prst="rect">
            <a:avLst/>
          </a:prstGeom>
        </p:spPr>
        <p:txBody>
          <a:bodyPr anchor="t" rtlCol="false" tIns="0" lIns="0" bIns="0" rIns="0">
            <a:spAutoFit/>
          </a:bodyPr>
          <a:lstStyle/>
          <a:p>
            <a:pPr algn="ctr">
              <a:lnSpc>
                <a:spcPts val="10549"/>
              </a:lnSpc>
            </a:pPr>
            <a:r>
              <a:rPr lang="en-US" b="true" sz="7535" spc="301">
                <a:solidFill>
                  <a:srgbClr val="FFFFFF"/>
                </a:solidFill>
                <a:latin typeface="Open Sauce Bold"/>
                <a:ea typeface="Open Sauce Bold"/>
                <a:cs typeface="Open Sauce Bold"/>
                <a:sym typeface="Open Sauce Bold"/>
              </a:rPr>
              <a:t>If you are the elder son</a:t>
            </a:r>
          </a:p>
          <a:p>
            <a:pPr algn="ctr">
              <a:lnSpc>
                <a:spcPts val="10549"/>
              </a:lnSpc>
              <a:spcBef>
                <a:spcPct val="0"/>
              </a:spcBef>
            </a:pPr>
            <a:r>
              <a:rPr lang="en-US" b="true" sz="7535" spc="301">
                <a:solidFill>
                  <a:srgbClr val="FFBD3F"/>
                </a:solidFill>
                <a:latin typeface="Open Sauce Bold"/>
                <a:ea typeface="Open Sauce Bold"/>
                <a:cs typeface="Open Sauce Bold"/>
                <a:sym typeface="Open Sauce Bold"/>
              </a:rPr>
              <a:t>come inside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888333" y="2939403"/>
            <a:ext cx="14876556" cy="26184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Who will go after the lost brother?</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1888333" y="2939403"/>
            <a:ext cx="14876556" cy="2618474"/>
          </a:xfrm>
          <a:prstGeom prst="rect">
            <a:avLst/>
          </a:prstGeom>
        </p:spPr>
        <p:txBody>
          <a:bodyPr anchor="t" rtlCol="false" tIns="0" lIns="0" bIns="0" rIns="0">
            <a:spAutoFit/>
          </a:bodyPr>
          <a:lstStyle/>
          <a:p>
            <a:pPr algn="ctr">
              <a:lnSpc>
                <a:spcPts val="10549"/>
              </a:lnSpc>
              <a:spcBef>
                <a:spcPct val="0"/>
              </a:spcBef>
            </a:pPr>
            <a:r>
              <a:rPr lang="en-US" b="true" sz="7535" spc="301">
                <a:solidFill>
                  <a:srgbClr val="FFFFFF"/>
                </a:solidFill>
                <a:latin typeface="Open Sauce Bold"/>
                <a:ea typeface="Open Sauce Bold"/>
                <a:cs typeface="Open Sauce Bold"/>
                <a:sym typeface="Open Sauce Bold"/>
              </a:rPr>
              <a:t>The answer is found in the Gospel.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31906" r="0" b="-96013"/>
            </a:stretch>
          </a:blipFill>
        </p:spPr>
      </p:sp>
      <p:sp>
        <p:nvSpPr>
          <p:cNvPr name="TextBox 3" id="3"/>
          <p:cNvSpPr txBox="true"/>
          <p:nvPr/>
        </p:nvSpPr>
        <p:spPr>
          <a:xfrm rot="0">
            <a:off x="3740799" y="1684458"/>
            <a:ext cx="10806401" cy="2656885"/>
          </a:xfrm>
          <a:prstGeom prst="rect">
            <a:avLst/>
          </a:prstGeom>
        </p:spPr>
        <p:txBody>
          <a:bodyPr anchor="t" rtlCol="false" tIns="0" lIns="0" bIns="0" rIns="0">
            <a:spAutoFit/>
          </a:bodyPr>
          <a:lstStyle/>
          <a:p>
            <a:pPr algn="ctr">
              <a:lnSpc>
                <a:spcPts val="21712"/>
              </a:lnSpc>
            </a:pPr>
            <a:r>
              <a:rPr lang="en-US" sz="15508" i="true" spc="-1240">
                <a:solidFill>
                  <a:srgbClr val="FFFFFF"/>
                </a:solidFill>
                <a:latin typeface="Cormorant Garamond Italics"/>
                <a:ea typeface="Cormorant Garamond Italics"/>
                <a:cs typeface="Cormorant Garamond Italics"/>
                <a:sym typeface="Cormorant Garamond Italics"/>
              </a:rPr>
              <a:t>The</a:t>
            </a:r>
          </a:p>
        </p:txBody>
      </p:sp>
      <p:sp>
        <p:nvSpPr>
          <p:cNvPr name="TextBox 4" id="4"/>
          <p:cNvSpPr txBox="true"/>
          <p:nvPr/>
        </p:nvSpPr>
        <p:spPr>
          <a:xfrm rot="0">
            <a:off x="2864121" y="2771085"/>
            <a:ext cx="12559758" cy="3670757"/>
          </a:xfrm>
          <a:prstGeom prst="rect">
            <a:avLst/>
          </a:prstGeom>
        </p:spPr>
        <p:txBody>
          <a:bodyPr anchor="t" rtlCol="false" tIns="0" lIns="0" bIns="0" rIns="0">
            <a:spAutoFit/>
          </a:bodyPr>
          <a:lstStyle/>
          <a:p>
            <a:pPr algn="ctr">
              <a:lnSpc>
                <a:spcPts val="30062"/>
              </a:lnSpc>
            </a:pPr>
            <a:r>
              <a:rPr lang="en-US" sz="21473">
                <a:solidFill>
                  <a:srgbClr val="FFFFFF"/>
                </a:solidFill>
                <a:latin typeface="Cormorant Garamond Light"/>
                <a:ea typeface="Cormorant Garamond Light"/>
                <a:cs typeface="Cormorant Garamond Light"/>
                <a:sym typeface="Cormorant Garamond Light"/>
              </a:rPr>
              <a:t>END</a:t>
            </a:r>
          </a:p>
        </p:txBody>
      </p:sp>
      <p:grpSp>
        <p:nvGrpSpPr>
          <p:cNvPr name="Group 5" id="5"/>
          <p:cNvGrpSpPr/>
          <p:nvPr/>
        </p:nvGrpSpPr>
        <p:grpSpPr>
          <a:xfrm rot="0">
            <a:off x="6617485" y="7842989"/>
            <a:ext cx="5053031" cy="902807"/>
            <a:chOff x="0" y="0"/>
            <a:chExt cx="1330839" cy="237776"/>
          </a:xfrm>
        </p:grpSpPr>
        <p:sp>
          <p:nvSpPr>
            <p:cNvPr name="Freeform 6" id="6"/>
            <p:cNvSpPr/>
            <p:nvPr/>
          </p:nvSpPr>
          <p:spPr>
            <a:xfrm flipH="false" flipV="false" rot="0">
              <a:off x="0" y="0"/>
              <a:ext cx="1330839" cy="237776"/>
            </a:xfrm>
            <a:custGeom>
              <a:avLst/>
              <a:gdLst/>
              <a:ahLst/>
              <a:cxnLst/>
              <a:rect r="r" b="b" t="t" l="l"/>
              <a:pathLst>
                <a:path h="237776" w="1330839">
                  <a:moveTo>
                    <a:pt x="0" y="0"/>
                  </a:moveTo>
                  <a:lnTo>
                    <a:pt x="1330839" y="0"/>
                  </a:lnTo>
                  <a:lnTo>
                    <a:pt x="1330839" y="237776"/>
                  </a:lnTo>
                  <a:lnTo>
                    <a:pt x="0" y="237776"/>
                  </a:lnTo>
                  <a:close/>
                </a:path>
              </a:pathLst>
            </a:custGeom>
            <a:ln w="38100" cap="sq">
              <a:gradFill>
                <a:gsLst>
                  <a:gs pos="0">
                    <a:srgbClr val="FFFFFF">
                      <a:alpha val="0"/>
                    </a:srgbClr>
                  </a:gs>
                  <a:gs pos="50000">
                    <a:srgbClr val="C9DE8D">
                      <a:alpha val="100000"/>
                    </a:srgbClr>
                  </a:gs>
                  <a:gs pos="100000">
                    <a:srgbClr val="FFFFFF">
                      <a:alpha val="0"/>
                    </a:srgbClr>
                  </a:gs>
                </a:gsLst>
                <a:lin ang="0"/>
              </a:gradFill>
              <a:prstDash val="solid"/>
              <a:miter/>
            </a:ln>
          </p:spPr>
        </p:sp>
        <p:sp>
          <p:nvSpPr>
            <p:cNvPr name="TextBox 7" id="7"/>
            <p:cNvSpPr txBox="true"/>
            <p:nvPr/>
          </p:nvSpPr>
          <p:spPr>
            <a:xfrm>
              <a:off x="0" y="-47625"/>
              <a:ext cx="1330839" cy="285401"/>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DAHTr9FzHj4</dc:identifier>
  <dcterms:modified xsi:type="dcterms:W3CDTF">2011-08-01T06:04:30Z</dcterms:modified>
  <cp:revision>1</cp:revision>
  <dc:title>Sermon</dc:title>
</cp:coreProperties>
</file>